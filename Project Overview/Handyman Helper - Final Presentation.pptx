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73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DA96-70E4-984D-7B9B-E88508C2E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30CEA-DFBA-3545-8144-DE9E54CBD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23B98-42FB-060A-C4A0-7D05588C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AA699-17E4-880B-B058-499C7160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3B85-44EA-0722-75FF-E9855174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084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89622-DAC9-A1DC-8E05-A0A22B62F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E811C-F0E9-F145-3D99-4A4D368F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71E7F-DD50-2FED-5AC3-5331F12E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9580D-8565-5567-F611-0ABDF7EF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7DC45-99EC-0E70-5E1F-A1FCE347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415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AD79-0090-01CF-7EE2-013556C4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74853-8EAC-3646-068F-967E403E2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A693C-D5F0-BDA5-2B74-4BBDCAB3A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0E36D-7D0C-DB9D-8EED-399E1323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6E8E3-11A9-0E6D-6ED7-FBE5F0DB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352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0523-D16C-EFD3-63E4-6510B94F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C82BF-4B6F-9E24-A12A-C39BD2843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B09D9-1C15-FBE6-666D-6760CA898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4637C-F1AD-29CC-38A7-3A8915402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1DE57-C8D5-C596-864F-8495807E8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AA1F1-F157-A971-D091-AE6A711C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69212-B0C8-4330-C0D0-FFB9C6D9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7AEDBF-0EE6-7502-B10E-3C9B1A2F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009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91235-B79A-B775-5FB9-F52264840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DAD11-F39F-56E9-2894-D5F1F0A7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B9C86-C0F9-E3A4-4096-8C94112A0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FC26D-651A-CE9C-E34A-3AF97CAB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816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5353F-110D-1C9E-CF83-C9BA8D29D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3EEBA-2639-1B13-FB72-0AEF90FF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28571-1012-3316-2C6C-0E731A00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033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B986-7F11-5803-6D2A-C162408E2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D0644-91B2-C4AC-2C1F-3F8647AF7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3B31D-F6F8-CC31-EB7F-E39C2963C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21FDB-98BA-2F8B-034A-4F1130EC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BA46E-2614-CDEE-96F4-560C3A01C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9278A-36CC-9E7E-1208-EB784877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834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A5FA7-079C-A186-EEBB-90502718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F7A58-5940-1B6B-3BD8-877B07506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9463A-E171-0525-B4B6-AB04085CF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05A8C-E2C4-87E4-837A-67F2F2268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EA211-AC54-2151-48CC-F143366C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5CACF-E02C-9F7F-9569-1B226C7F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378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A52C-2DC6-336C-C430-2EC73C0C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47326-B734-8A97-AAF5-FD6793CB6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53452-356D-746F-485B-F6DC805A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06768-B7B0-B06B-C53C-55AEB6EE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F6AFB-C9C9-6234-1573-44A91E72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004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90BEB-F8E1-659B-539B-937D04CDF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5CFC6-9520-3C5D-953F-5924AC659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E1146-CA8B-A17B-64DC-9DE646CF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E7F6B-59A4-94A9-6804-375A95DA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FA6C2-6CE5-0027-4E3D-71BE527C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714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22B9D-5A7F-D4E1-3152-6D39E2FC1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9293F-3954-C86D-BB59-FAD6DD16F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B4D88-15AA-41E7-A192-C01E490E4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A9E66-286C-4E44-A43A-14FCD3A73561}" type="datetimeFigureOut">
              <a:rPr lang="en-CA" smtClean="0"/>
              <a:t>08-Apr-2026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3712B-8421-C355-AB01-42B28A466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5B730-CC21-647C-DEC7-89ACFE5DC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22DBD-6599-453E-84FA-18447820E046}" type="slidenum">
              <a:rPr lang="en-CA" smtClean="0"/>
              <a:t>‹#›</a:t>
            </a:fld>
            <a:endParaRPr lang="en-CA"/>
          </a:p>
        </p:txBody>
      </p:sp>
      <p:sp>
        <p:nvSpPr>
          <p:cNvPr id="900" name="Accent Bar"/>
          <p:cNvSpPr/>
          <p:nvPr userDrawn="1"/>
        </p:nvSpPr>
        <p:spPr>
          <a:xfrm>
            <a:off x="0" y="6400000"/>
            <a:ext cx="1219200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Yellow Accent Line"/>
          <p:cNvSpPr/>
          <p:nvPr userDrawn="1"/>
        </p:nvSpPr>
        <p:spPr>
          <a:xfrm>
            <a:off x="0" y="6350000"/>
            <a:ext cx="12192000" cy="50000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0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C3E5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276E8E-E0E3-4DA7-BC2E-C0475F36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50" y="5307013"/>
            <a:ext cx="9144000" cy="165576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+mj-lt"/>
              </a:rPr>
              <a:t>The Two-Sided Marketplace for Handyman Services</a:t>
            </a:r>
            <a:br>
              <a:rPr lang="en-US" sz="1800" dirty="0">
                <a:solidFill>
                  <a:schemeClr val="bg1"/>
                </a:solidFill>
                <a:latin typeface="+mj-lt"/>
              </a:rPr>
            </a:br>
            <a:r>
              <a:rPr lang="en-US" sz="1200" dirty="0">
                <a:solidFill>
                  <a:schemeClr val="bg1"/>
                </a:solidFill>
                <a:latin typeface="+mj-lt"/>
              </a:rPr>
              <a:t>—</a:t>
            </a:r>
            <a:br>
              <a:rPr lang="en-US" sz="1200" dirty="0">
                <a:solidFill>
                  <a:schemeClr val="bg1"/>
                </a:solidFill>
                <a:latin typeface="+mj-lt"/>
              </a:rPr>
            </a:br>
            <a:r>
              <a:rPr lang="en-US" sz="1800" dirty="0">
                <a:solidFill>
                  <a:schemeClr val="bg1"/>
                </a:solidFill>
                <a:latin typeface="+mj-lt"/>
              </a:rPr>
              <a:t>Connecting Clients with Trusted Contractors</a:t>
            </a:r>
            <a:endParaRPr lang="en-CA" sz="1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EEC2F36A-8674-D06E-1385-E5EEF257C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934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C523B1-D0F8-42B1-9865-E31BB5AAD0A3}"/>
              </a:ext>
            </a:extLst>
          </p:cNvPr>
          <p:cNvSpPr/>
          <p:nvPr/>
        </p:nvSpPr>
        <p:spPr>
          <a:xfrm>
            <a:off x="381001" y="1644650"/>
            <a:ext cx="5461000" cy="3810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 cap="flat" cmpd="sng" algn="ctr">
            <a:solidFill>
              <a:srgbClr val="1A52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 dirty="0">
              <a:solidFill>
                <a:srgbClr val="1A527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084B3-9395-40B0-A41E-25EE42FF828C}"/>
              </a:ext>
            </a:extLst>
          </p:cNvPr>
          <p:cNvSpPr txBox="1"/>
          <p:nvPr/>
        </p:nvSpPr>
        <p:spPr>
          <a:xfrm>
            <a:off x="889001" y="1919793"/>
            <a:ext cx="4953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2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FADCD-7052-416F-905F-7AF26FCCF635}"/>
              </a:ext>
            </a:extLst>
          </p:cNvPr>
          <p:cNvSpPr txBox="1"/>
          <p:nvPr/>
        </p:nvSpPr>
        <p:spPr>
          <a:xfrm>
            <a:off x="542926" y="2504162"/>
            <a:ext cx="5121274" cy="13505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ct val="150000"/>
              </a:lnSpc>
              <a:buFont typeface="Arial"/>
              <a:buChar char="✕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Finding reliable handymen is time-consuming and risky</a:t>
            </a:r>
          </a:p>
          <a:p>
            <a:pPr marL="228600" indent="-228600">
              <a:lnSpc>
                <a:spcPct val="150000"/>
              </a:lnSpc>
              <a:buFont typeface="Arial"/>
              <a:buChar char="✕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No centralized platform for bidding on local jobs</a:t>
            </a:r>
          </a:p>
          <a:p>
            <a:pPr marL="228600" indent="-228600">
              <a:lnSpc>
                <a:spcPct val="150000"/>
              </a:lnSpc>
              <a:buFont typeface="Arial"/>
              <a:buChar char="✕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Poor communication between clients and contractors</a:t>
            </a:r>
          </a:p>
          <a:p>
            <a:pPr marL="228600" indent="-228600">
              <a:lnSpc>
                <a:spcPct val="150000"/>
              </a:lnSpc>
              <a:buFont typeface="Arial"/>
              <a:buChar char="✕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No identity verification — trust is a guessing game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F363B6-AE6D-4C4E-9C62-E5175CE7BC80}"/>
              </a:ext>
            </a:extLst>
          </p:cNvPr>
          <p:cNvSpPr/>
          <p:nvPr/>
        </p:nvSpPr>
        <p:spPr>
          <a:xfrm>
            <a:off x="6349999" y="1644650"/>
            <a:ext cx="5461000" cy="38100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>
              <a:solidFill>
                <a:srgbClr val="27AE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97848-5CF3-4E19-9197-D2CFAB012E6D}"/>
              </a:ext>
            </a:extLst>
          </p:cNvPr>
          <p:cNvSpPr txBox="1"/>
          <p:nvPr/>
        </p:nvSpPr>
        <p:spPr>
          <a:xfrm>
            <a:off x="6857999" y="1863887"/>
            <a:ext cx="4953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Our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AAFD6-0AED-4152-A42F-B4021D2EA0F3}"/>
              </a:ext>
            </a:extLst>
          </p:cNvPr>
          <p:cNvSpPr txBox="1"/>
          <p:nvPr/>
        </p:nvSpPr>
        <p:spPr>
          <a:xfrm>
            <a:off x="6527799" y="2396439"/>
            <a:ext cx="5121275" cy="16737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ct val="150000"/>
              </a:lnSpc>
              <a:buFont typeface="Arial"/>
              <a:buChar char="✓"/>
            </a:pPr>
            <a:r>
              <a:rPr lang="en-US" sz="1400" dirty="0">
                <a:solidFill>
                  <a:srgbClr val="2C3E50"/>
                </a:solidFill>
              </a:rPr>
              <a:t>Two-sided marketplace connecting clients with verified contractors</a:t>
            </a:r>
          </a:p>
          <a:p>
            <a:pPr marL="228600" indent="-228600">
              <a:lnSpc>
                <a:spcPct val="150000"/>
              </a:lnSpc>
              <a:buFont typeface="Arial"/>
              <a:buChar char="✓"/>
            </a:pPr>
            <a:r>
              <a:rPr lang="en-US" sz="1400" dirty="0">
                <a:solidFill>
                  <a:srgbClr val="2C3E50"/>
                </a:solidFill>
              </a:rPr>
              <a:t>Competitive bidding with Starting Bid + Flat Rate pricing</a:t>
            </a:r>
          </a:p>
          <a:p>
            <a:pPr marL="228600" indent="-228600">
              <a:lnSpc>
                <a:spcPct val="150000"/>
              </a:lnSpc>
              <a:buFont typeface="Arial"/>
              <a:buChar char="✓"/>
            </a:pPr>
            <a:r>
              <a:rPr lang="en-US" sz="1400" dirty="0">
                <a:solidFill>
                  <a:srgbClr val="2C3E50"/>
                </a:solidFill>
              </a:rPr>
              <a:t>Built-in real-time messaging for seamless coordination</a:t>
            </a:r>
          </a:p>
          <a:p>
            <a:pPr marL="228600" indent="-228600">
              <a:lnSpc>
                <a:spcPct val="150000"/>
              </a:lnSpc>
              <a:buFont typeface="Arial"/>
              <a:buChar char="✓"/>
            </a:pPr>
            <a:r>
              <a:rPr lang="en-US" sz="1400" dirty="0">
                <a:solidFill>
                  <a:srgbClr val="2C3E50"/>
                </a:solidFill>
              </a:rPr>
              <a:t>Identity verification via photo upload or invite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8BB0F-F965-499A-B53C-4F565136E85C}"/>
              </a:ext>
            </a:extLst>
          </p:cNvPr>
          <p:cNvSpPr txBox="1"/>
          <p:nvPr/>
        </p:nvSpPr>
        <p:spPr>
          <a:xfrm>
            <a:off x="1066800" y="391593"/>
            <a:ext cx="11277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Problem </a:t>
            </a:r>
            <a:r>
              <a:rPr lang="en-CA" sz="3200" b="1" dirty="0">
                <a:solidFill>
                  <a:srgbClr val="1A5276"/>
                </a:solidFill>
                <a:latin typeface="+mj-lt"/>
              </a:rPr>
              <a:t>&amp; </a:t>
            </a:r>
            <a:r>
              <a:rPr lang="en-CA" sz="3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Our Solution</a:t>
            </a:r>
          </a:p>
        </p:txBody>
      </p:sp>
    </p:spTree>
    <p:extLst>
      <p:ext uri="{BB962C8B-B14F-4D97-AF65-F5344CB8AC3E}">
        <p14:creationId xmlns:p14="http://schemas.microsoft.com/office/powerpoint/2010/main" val="2767279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D43DE-6374-4957-9092-44CE06E2A793}"/>
              </a:ext>
            </a:extLst>
          </p:cNvPr>
          <p:cNvSpPr txBox="1"/>
          <p:nvPr/>
        </p:nvSpPr>
        <p:spPr>
          <a:xfrm>
            <a:off x="1495425" y="545812"/>
            <a:ext cx="11277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Key Features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9D8363-74C6-4C1E-B9E1-BEC09D10015A}"/>
              </a:ext>
            </a:extLst>
          </p:cNvPr>
          <p:cNvSpPr/>
          <p:nvPr/>
        </p:nvSpPr>
        <p:spPr>
          <a:xfrm>
            <a:off x="428625" y="1651000"/>
            <a:ext cx="3556000" cy="177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D5DB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>
              <a:solidFill>
                <a:srgbClr val="2C3E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61F60-8044-4697-9D5E-D2D7861DFEDB}"/>
              </a:ext>
            </a:extLst>
          </p:cNvPr>
          <p:cNvSpPr txBox="1"/>
          <p:nvPr/>
        </p:nvSpPr>
        <p:spPr>
          <a:xfrm>
            <a:off x="1190625" y="1803400"/>
            <a:ext cx="2641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600" b="1">
                <a:solidFill>
                  <a:srgbClr val="1A5276"/>
                </a:solidFill>
              </a:rPr>
              <a:t>Two-Sided Marketplace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279F6-74EF-44BD-9049-0B241466814C}"/>
              </a:ext>
            </a:extLst>
          </p:cNvPr>
          <p:cNvSpPr txBox="1"/>
          <p:nvPr/>
        </p:nvSpPr>
        <p:spPr>
          <a:xfrm>
            <a:off x="581025" y="2362200"/>
            <a:ext cx="3251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dirty="0">
                <a:solidFill>
                  <a:srgbClr val="5D6D7E"/>
                </a:solidFill>
              </a:rPr>
              <a:t>Clients post jobs, contractors bid</a:t>
            </a:r>
            <a:br>
              <a:rPr lang="en-US" sz="1400" dirty="0">
                <a:solidFill>
                  <a:srgbClr val="5D6D7E"/>
                </a:solidFill>
              </a:rPr>
            </a:br>
            <a:r>
              <a:rPr lang="en-US" sz="1400" dirty="0">
                <a:solidFill>
                  <a:srgbClr val="5D6D7E"/>
                </a:solidFill>
              </a:rPr>
              <a:t> —</a:t>
            </a:r>
            <a:br>
              <a:rPr lang="en-US" sz="1400" dirty="0">
                <a:solidFill>
                  <a:srgbClr val="5D6D7E"/>
                </a:solidFill>
              </a:rPr>
            </a:br>
            <a:r>
              <a:rPr lang="en-US" sz="1400" dirty="0">
                <a:solidFill>
                  <a:srgbClr val="5D6D7E"/>
                </a:solidFill>
              </a:rPr>
              <a:t> full end-to-end workflow</a:t>
            </a:r>
            <a:endParaRPr lang="en-CA" sz="1400" dirty="0">
              <a:solidFill>
                <a:srgbClr val="5D6D7E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0219D4-65CA-4757-A478-E1BE56CDEEB1}"/>
              </a:ext>
            </a:extLst>
          </p:cNvPr>
          <p:cNvSpPr/>
          <p:nvPr/>
        </p:nvSpPr>
        <p:spPr>
          <a:xfrm>
            <a:off x="4289425" y="1651000"/>
            <a:ext cx="3556000" cy="177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D5DB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>
              <a:solidFill>
                <a:srgbClr val="2C3E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FD72D-F064-427A-9477-25C3ED4C8148}"/>
              </a:ext>
            </a:extLst>
          </p:cNvPr>
          <p:cNvSpPr txBox="1"/>
          <p:nvPr/>
        </p:nvSpPr>
        <p:spPr>
          <a:xfrm>
            <a:off x="5051425" y="1803400"/>
            <a:ext cx="2641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600" b="1">
                <a:solidFill>
                  <a:srgbClr val="1A5276"/>
                </a:solidFill>
              </a:rPr>
              <a:t>Identity Verification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ECF45-7375-4AF9-A1FB-25A8A70BDE22}"/>
              </a:ext>
            </a:extLst>
          </p:cNvPr>
          <p:cNvSpPr txBox="1"/>
          <p:nvPr/>
        </p:nvSpPr>
        <p:spPr>
          <a:xfrm>
            <a:off x="4746625" y="2397204"/>
            <a:ext cx="2641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dirty="0">
                <a:solidFill>
                  <a:srgbClr val="5D6D7E"/>
                </a:solidFill>
              </a:rPr>
              <a:t>Photo upload or invite code with </a:t>
            </a:r>
            <a:br>
              <a:rPr lang="en-US" sz="1400" dirty="0">
                <a:solidFill>
                  <a:srgbClr val="5D6D7E"/>
                </a:solidFill>
              </a:rPr>
            </a:br>
            <a:r>
              <a:rPr lang="en-US" sz="1400" dirty="0">
                <a:solidFill>
                  <a:srgbClr val="5D6D7E"/>
                </a:solidFill>
              </a:rPr>
              <a:t>animated validation</a:t>
            </a:r>
            <a:endParaRPr lang="en-CA" sz="1400" dirty="0">
              <a:solidFill>
                <a:srgbClr val="5D6D7E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98970A-20AF-4BC5-A074-E6A5B7EE6967}"/>
              </a:ext>
            </a:extLst>
          </p:cNvPr>
          <p:cNvSpPr/>
          <p:nvPr/>
        </p:nvSpPr>
        <p:spPr>
          <a:xfrm>
            <a:off x="8150225" y="1651000"/>
            <a:ext cx="3556000" cy="177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D5DB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>
              <a:solidFill>
                <a:srgbClr val="2C3E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E4E33-BAC8-4FDA-8976-3733648F9DE5}"/>
              </a:ext>
            </a:extLst>
          </p:cNvPr>
          <p:cNvSpPr txBox="1"/>
          <p:nvPr/>
        </p:nvSpPr>
        <p:spPr>
          <a:xfrm>
            <a:off x="8912225" y="1803400"/>
            <a:ext cx="2641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600" b="1">
                <a:solidFill>
                  <a:srgbClr val="1A5276"/>
                </a:solidFill>
              </a:rPr>
              <a:t>Real-Time Messaging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1B04C9-F6B5-433E-80C2-8719627D84BC}"/>
              </a:ext>
            </a:extLst>
          </p:cNvPr>
          <p:cNvSpPr txBox="1"/>
          <p:nvPr/>
        </p:nvSpPr>
        <p:spPr>
          <a:xfrm>
            <a:off x="8702675" y="2438400"/>
            <a:ext cx="2641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dirty="0">
                <a:solidFill>
                  <a:srgbClr val="5D6D7E"/>
                </a:solidFill>
              </a:rPr>
              <a:t>Direct messaging between clients &amp; contractors</a:t>
            </a:r>
            <a:endParaRPr lang="en-CA" sz="1400" dirty="0">
              <a:solidFill>
                <a:srgbClr val="5D6D7E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6FEE86-63DD-4410-AECD-9E94F4A3BEAE}"/>
              </a:ext>
            </a:extLst>
          </p:cNvPr>
          <p:cNvSpPr/>
          <p:nvPr/>
        </p:nvSpPr>
        <p:spPr>
          <a:xfrm>
            <a:off x="428625" y="3683000"/>
            <a:ext cx="3556000" cy="177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D5DB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>
              <a:solidFill>
                <a:srgbClr val="2C3E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52345-A091-4288-A07A-41BEEAFF43F0}"/>
              </a:ext>
            </a:extLst>
          </p:cNvPr>
          <p:cNvSpPr txBox="1"/>
          <p:nvPr/>
        </p:nvSpPr>
        <p:spPr>
          <a:xfrm>
            <a:off x="1190625" y="3835400"/>
            <a:ext cx="2641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600" b="1">
                <a:solidFill>
                  <a:srgbClr val="1A5276"/>
                </a:solidFill>
              </a:rPr>
              <a:t>Smart Search &amp; Filters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279EB-B71A-4A54-B9F3-FF078671C6F1}"/>
              </a:ext>
            </a:extLst>
          </p:cNvPr>
          <p:cNvSpPr txBox="1"/>
          <p:nvPr/>
        </p:nvSpPr>
        <p:spPr>
          <a:xfrm>
            <a:off x="885825" y="4445000"/>
            <a:ext cx="2641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dirty="0">
                <a:solidFill>
                  <a:srgbClr val="5D6D7E"/>
                </a:solidFill>
              </a:rPr>
              <a:t>Price sorting, category filters, bid-based filtering</a:t>
            </a:r>
            <a:endParaRPr lang="en-CA" sz="1400" dirty="0">
              <a:solidFill>
                <a:srgbClr val="5D6D7E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6F760-80DD-4BD8-9773-743D419B1ED4}"/>
              </a:ext>
            </a:extLst>
          </p:cNvPr>
          <p:cNvSpPr/>
          <p:nvPr/>
        </p:nvSpPr>
        <p:spPr>
          <a:xfrm>
            <a:off x="4289425" y="3683000"/>
            <a:ext cx="3556000" cy="177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D5DB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>
              <a:solidFill>
                <a:srgbClr val="2C3E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68472-A291-459B-8BF5-F1021EA1C8D2}"/>
              </a:ext>
            </a:extLst>
          </p:cNvPr>
          <p:cNvSpPr txBox="1"/>
          <p:nvPr/>
        </p:nvSpPr>
        <p:spPr>
          <a:xfrm>
            <a:off x="5051425" y="3835400"/>
            <a:ext cx="2641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600" b="1">
                <a:solidFill>
                  <a:srgbClr val="1A5276"/>
                </a:solidFill>
              </a:rPr>
              <a:t>Dual Pricing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B3DF55-4A28-4D0B-8475-C51C8615B607}"/>
              </a:ext>
            </a:extLst>
          </p:cNvPr>
          <p:cNvSpPr txBox="1"/>
          <p:nvPr/>
        </p:nvSpPr>
        <p:spPr>
          <a:xfrm>
            <a:off x="4746625" y="4333875"/>
            <a:ext cx="2641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dirty="0">
                <a:solidFill>
                  <a:srgbClr val="5D6D7E"/>
                </a:solidFill>
              </a:rPr>
              <a:t>Starting Bid + Flat Rate </a:t>
            </a:r>
            <a:br>
              <a:rPr lang="en-US" sz="1400" dirty="0">
                <a:solidFill>
                  <a:srgbClr val="5D6D7E"/>
                </a:solidFill>
              </a:rPr>
            </a:br>
            <a:r>
              <a:rPr lang="en-US" sz="1400" dirty="0">
                <a:solidFill>
                  <a:srgbClr val="5D6D7E"/>
                </a:solidFill>
              </a:rPr>
              <a:t>for </a:t>
            </a:r>
            <a:br>
              <a:rPr lang="en-US" sz="1400" dirty="0">
                <a:solidFill>
                  <a:srgbClr val="5D6D7E"/>
                </a:solidFill>
              </a:rPr>
            </a:br>
            <a:r>
              <a:rPr lang="en-US" sz="1400" dirty="0">
                <a:solidFill>
                  <a:srgbClr val="5D6D7E"/>
                </a:solidFill>
              </a:rPr>
              <a:t>flexible deal-making</a:t>
            </a:r>
            <a:endParaRPr lang="en-CA" sz="1400" dirty="0">
              <a:solidFill>
                <a:srgbClr val="5D6D7E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A2FBB89-8634-42E6-9FA5-2469762567BB}"/>
              </a:ext>
            </a:extLst>
          </p:cNvPr>
          <p:cNvSpPr/>
          <p:nvPr/>
        </p:nvSpPr>
        <p:spPr>
          <a:xfrm>
            <a:off x="8150225" y="3683000"/>
            <a:ext cx="3556000" cy="177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D5DB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>
              <a:solidFill>
                <a:srgbClr val="2C3E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7CBB03-82B9-4C86-9C56-DEEC7CDFD0BE}"/>
              </a:ext>
            </a:extLst>
          </p:cNvPr>
          <p:cNvSpPr txBox="1"/>
          <p:nvPr/>
        </p:nvSpPr>
        <p:spPr>
          <a:xfrm>
            <a:off x="8912225" y="3835400"/>
            <a:ext cx="2641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600" b="1">
                <a:solidFill>
                  <a:srgbClr val="1A5276"/>
                </a:solidFill>
              </a:rPr>
              <a:t>Mobile-First Design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5690B8-DF21-41C2-AA06-9552CB282DED}"/>
              </a:ext>
            </a:extLst>
          </p:cNvPr>
          <p:cNvSpPr txBox="1"/>
          <p:nvPr/>
        </p:nvSpPr>
        <p:spPr>
          <a:xfrm>
            <a:off x="8607425" y="4394200"/>
            <a:ext cx="2641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dirty="0">
                <a:solidFill>
                  <a:srgbClr val="5D6D7E"/>
                </a:solidFill>
              </a:rPr>
              <a:t>Responsive UI with dark mode and touch-friendly controls</a:t>
            </a:r>
            <a:endParaRPr lang="en-CA" sz="1400" dirty="0">
              <a:solidFill>
                <a:srgbClr val="5D6D7E"/>
              </a:solidFill>
            </a:endParaRPr>
          </a:p>
        </p:txBody>
      </p:sp>
      <p:pic>
        <p:nvPicPr>
          <p:cNvPr id="21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625" y="1752600"/>
            <a:ext cx="508000" cy="508000"/>
          </a:xfrm>
          <a:prstGeom prst="rect">
            <a:avLst/>
          </a:prstGeom>
        </p:spPr>
      </p:pic>
      <p:pic>
        <p:nvPicPr>
          <p:cNvPr id="22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7225" y="1752600"/>
            <a:ext cx="508000" cy="508000"/>
          </a:xfrm>
          <a:prstGeom prst="rect">
            <a:avLst/>
          </a:prstGeom>
        </p:spPr>
      </p:pic>
      <p:pic>
        <p:nvPicPr>
          <p:cNvPr id="23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6425" y="3784600"/>
            <a:ext cx="508000" cy="508000"/>
          </a:xfrm>
          <a:prstGeom prst="rect">
            <a:avLst/>
          </a:prstGeom>
        </p:spPr>
      </p:pic>
      <p:pic>
        <p:nvPicPr>
          <p:cNvPr id="24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7225" y="3784600"/>
            <a:ext cx="508000" cy="508000"/>
          </a:xfrm>
          <a:prstGeom prst="rect">
            <a:avLst/>
          </a:prstGeom>
        </p:spPr>
      </p:pic>
      <p:pic>
        <p:nvPicPr>
          <p:cNvPr id="25" name="Graphic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6425" y="1752600"/>
            <a:ext cx="508000" cy="508000"/>
          </a:xfrm>
          <a:prstGeom prst="rect">
            <a:avLst/>
          </a:prstGeom>
        </p:spPr>
      </p:pic>
      <p:pic>
        <p:nvPicPr>
          <p:cNvPr id="26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625" y="3784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6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F6E333-EE33-471F-85B5-A24C16AE1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670238"/>
              </p:ext>
            </p:extLst>
          </p:nvPr>
        </p:nvGraphicFramePr>
        <p:xfrm>
          <a:off x="1171575" y="1312000"/>
          <a:ext cx="9553575" cy="3179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917">
                  <a:extLst>
                    <a:ext uri="{9D8B030D-6E8A-4147-A177-3AD203B41FA5}">
                      <a16:colId xmlns:a16="http://schemas.microsoft.com/office/drawing/2014/main" val="3439917041"/>
                    </a:ext>
                  </a:extLst>
                </a:gridCol>
                <a:gridCol w="3437133">
                  <a:extLst>
                    <a:ext uri="{9D8B030D-6E8A-4147-A177-3AD203B41FA5}">
                      <a16:colId xmlns:a16="http://schemas.microsoft.com/office/drawing/2014/main" val="269073808"/>
                    </a:ext>
                  </a:extLst>
                </a:gridCol>
                <a:gridCol w="3184525">
                  <a:extLst>
                    <a:ext uri="{9D8B030D-6E8A-4147-A177-3AD203B41FA5}">
                      <a16:colId xmlns:a16="http://schemas.microsoft.com/office/drawing/2014/main" val="306393613"/>
                    </a:ext>
                  </a:extLst>
                </a:gridCol>
              </a:tblGrid>
              <a:tr h="428093"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Layer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Technology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Purpose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071388"/>
                  </a:ext>
                </a:extLst>
              </a:tr>
              <a:tr h="428093"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Runtime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Node.js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dirty="0">
                          <a:solidFill>
                            <a:srgbClr val="2C3E50"/>
                          </a:solidFill>
                        </a:rPr>
                        <a:t>JavaScript server runtime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392488"/>
                  </a:ext>
                </a:extLst>
              </a:tr>
              <a:tr h="428093"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Framework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b="1">
                          <a:solidFill>
                            <a:srgbClr val="2C3E50"/>
                          </a:solidFill>
                        </a:rPr>
                        <a:t>Express.js 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dirty="0">
                          <a:solidFill>
                            <a:srgbClr val="2C3E50"/>
                          </a:solidFill>
                        </a:rPr>
                        <a:t>Routes, middleware, API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136347"/>
                  </a:ext>
                </a:extLst>
              </a:tr>
              <a:tr h="428093"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Database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b="1">
                          <a:solidFill>
                            <a:srgbClr val="2C3E50"/>
                          </a:solidFill>
                        </a:rPr>
                        <a:t>MongoDB + Mongoose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dirty="0">
                          <a:solidFill>
                            <a:srgbClr val="2C3E50"/>
                          </a:solidFill>
                        </a:rPr>
                        <a:t>Persistent NoSQL storage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751064"/>
                  </a:ext>
                </a:extLst>
              </a:tr>
              <a:tr h="519717"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Frontend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EJS + Bootstrap 5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dirty="0">
                          <a:solidFill>
                            <a:srgbClr val="2C3E50"/>
                          </a:solidFill>
                        </a:rPr>
                        <a:t>Server-rendered responsive UI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255169"/>
                  </a:ext>
                </a:extLst>
              </a:tr>
              <a:tr h="428093"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File Handling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Multer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dirty="0">
                          <a:solidFill>
                            <a:srgbClr val="2C3E50"/>
                          </a:solidFill>
                        </a:rPr>
                        <a:t>Photo uploads (jobs + IDs)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410209"/>
                  </a:ext>
                </a:extLst>
              </a:tr>
              <a:tr h="519717"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Client-Side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b="1" dirty="0">
                          <a:solidFill>
                            <a:srgbClr val="2C3E50"/>
                          </a:solidFill>
                        </a:rPr>
                        <a:t>Vanilla JS + CSS3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400" dirty="0">
                          <a:solidFill>
                            <a:srgbClr val="2C3E50"/>
                          </a:solidFill>
                        </a:rPr>
                        <a:t>Dark mode, fetch API, animations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0118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614EC00-BDAF-4170-A909-91AC210ACEE8}"/>
              </a:ext>
            </a:extLst>
          </p:cNvPr>
          <p:cNvSpPr txBox="1"/>
          <p:nvPr/>
        </p:nvSpPr>
        <p:spPr>
          <a:xfrm>
            <a:off x="762000" y="4699000"/>
            <a:ext cx="10668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Full-stack JavaScript application with mobile-first responsive design, dark mode support, and real-time data persistence</a:t>
            </a:r>
            <a:endParaRPr lang="en-CA" sz="1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E7197-9CA0-413F-8E73-536E4554CBD1}"/>
              </a:ext>
            </a:extLst>
          </p:cNvPr>
          <p:cNvSpPr txBox="1"/>
          <p:nvPr/>
        </p:nvSpPr>
        <p:spPr>
          <a:xfrm>
            <a:off x="457200" y="254000"/>
            <a:ext cx="11277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 dirty="0">
                <a:solidFill>
                  <a:srgbClr val="1A5276"/>
                </a:solidFill>
                <a:latin typeface="+mj-lt"/>
              </a:rPr>
              <a:t>Technology Stack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07056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3672C-8E09-4E12-B756-30B338E358CB}"/>
              </a:ext>
            </a:extLst>
          </p:cNvPr>
          <p:cNvSpPr txBox="1"/>
          <p:nvPr/>
        </p:nvSpPr>
        <p:spPr>
          <a:xfrm>
            <a:off x="457200" y="254000"/>
            <a:ext cx="11277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+mj-lt"/>
              </a:rPr>
              <a:t>Why Invest in Handyman Helper?</a:t>
            </a:r>
            <a:endParaRPr lang="en-CA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87D78A-C96D-4515-9CA1-4326469E48CE}"/>
              </a:ext>
            </a:extLst>
          </p:cNvPr>
          <p:cNvSpPr/>
          <p:nvPr/>
        </p:nvSpPr>
        <p:spPr>
          <a:xfrm>
            <a:off x="457200" y="1270000"/>
            <a:ext cx="5461000" cy="26670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B3701-AF94-4B44-951F-369A3B7B4AC0}"/>
              </a:ext>
            </a:extLst>
          </p:cNvPr>
          <p:cNvSpPr txBox="1"/>
          <p:nvPr/>
        </p:nvSpPr>
        <p:spPr>
          <a:xfrm>
            <a:off x="711200" y="1397000"/>
            <a:ext cx="4953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2000" b="1" dirty="0">
                <a:solidFill>
                  <a:srgbClr val="FF3300"/>
                </a:solidFill>
                <a:latin typeface="+mj-lt"/>
              </a:rPr>
              <a:t>What We've Built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60775-21BF-4BCF-A2AE-2CD2C9B74665}"/>
              </a:ext>
            </a:extLst>
          </p:cNvPr>
          <p:cNvSpPr txBox="1"/>
          <p:nvPr/>
        </p:nvSpPr>
        <p:spPr>
          <a:xfrm>
            <a:off x="711200" y="1905000"/>
            <a:ext cx="4953000" cy="16737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</a:rPr>
              <a:t>• Full end-to-end marketplace MVP
• Identity verification system
• Real-time messaging platform
• Mobile-first responsive design
• Scalable MongoDB backend</a:t>
            </a:r>
            <a:endParaRPr lang="en-CA" sz="1400" dirty="0">
              <a:solidFill>
                <a:srgbClr val="00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ADDDEF-F807-463B-8CBE-1EF4037A91AA}"/>
              </a:ext>
            </a:extLst>
          </p:cNvPr>
          <p:cNvSpPr/>
          <p:nvPr/>
        </p:nvSpPr>
        <p:spPr>
          <a:xfrm>
            <a:off x="6273800" y="1270000"/>
            <a:ext cx="5461000" cy="2667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1A52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>
              <a:solidFill>
                <a:srgbClr val="2C3E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1BB42-813F-491F-ABDE-F5B10F42B91C}"/>
              </a:ext>
            </a:extLst>
          </p:cNvPr>
          <p:cNvSpPr txBox="1"/>
          <p:nvPr/>
        </p:nvSpPr>
        <p:spPr>
          <a:xfrm>
            <a:off x="6527800" y="1397000"/>
            <a:ext cx="4953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Growth Roadmap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FB6E2-5AE8-4336-92D9-EE443E0A6D06}"/>
              </a:ext>
            </a:extLst>
          </p:cNvPr>
          <p:cNvSpPr txBox="1"/>
          <p:nvPr/>
        </p:nvSpPr>
        <p:spPr>
          <a:xfrm>
            <a:off x="6527800" y="1905000"/>
            <a:ext cx="4953000" cy="16737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C3E50"/>
                </a:solidFill>
              </a:rPr>
              <a:t>• Payment integration (Stripe)
• Ratings &amp; review system
• Push notifications
• Geolocation-based job matching
• Admin dashboard analytics</a:t>
            </a:r>
            <a:endParaRPr lang="en-CA" sz="1400" dirty="0">
              <a:solidFill>
                <a:srgbClr val="2C3E5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4C8962-7232-4F82-B85B-719760164DE3}"/>
              </a:ext>
            </a:extLst>
          </p:cNvPr>
          <p:cNvSpPr/>
          <p:nvPr/>
        </p:nvSpPr>
        <p:spPr>
          <a:xfrm>
            <a:off x="2032000" y="4381500"/>
            <a:ext cx="8128000" cy="127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>
              <a:solidFill>
                <a:srgbClr val="1A527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B939B-E63E-402A-98F6-2E3E5030B485}"/>
              </a:ext>
            </a:extLst>
          </p:cNvPr>
          <p:cNvSpPr txBox="1"/>
          <p:nvPr/>
        </p:nvSpPr>
        <p:spPr>
          <a:xfrm>
            <a:off x="2286000" y="4508500"/>
            <a:ext cx="762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Ready to Scale the Home Services Market</a:t>
            </a:r>
            <a:endParaRPr lang="en-CA" sz="2200" b="1" dirty="0">
              <a:solidFill>
                <a:schemeClr val="accent3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AFB347-A8C8-4B4F-90F6-3F3B66A29BE9}"/>
              </a:ext>
            </a:extLst>
          </p:cNvPr>
          <p:cNvSpPr txBox="1"/>
          <p:nvPr/>
        </p:nvSpPr>
        <p:spPr>
          <a:xfrm>
            <a:off x="2286000" y="4953000"/>
            <a:ext cx="762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C3E50"/>
                </a:solidFill>
              </a:rPr>
              <a:t>The foundation is built. Let's grow together.</a:t>
            </a:r>
            <a:endParaRPr lang="en-CA" sz="1600">
              <a:solidFill>
                <a:srgbClr val="2C3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452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673995320]">
  <a:themeElements>
    <a:clrScheme name="Office">
      <a:dk1>
        <a:srgbClr val="2C3E50"/>
      </a:dk1>
      <a:lt1>
        <a:srgbClr val="FFFFFF"/>
      </a:lt1>
      <a:dk2>
        <a:srgbClr val="1A5276"/>
      </a:dk2>
      <a:lt2>
        <a:srgbClr val="F7F9FB"/>
      </a:lt2>
      <a:accent1>
        <a:srgbClr val="1A5276"/>
      </a:accent1>
      <a:accent2>
        <a:srgbClr val="F4D03F"/>
      </a:accent2>
      <a:accent3>
        <a:srgbClr val="27AE60"/>
      </a:accent3>
      <a:accent4>
        <a:srgbClr val="2980B9"/>
      </a:accent4>
      <a:accent5>
        <a:srgbClr val="E67E22"/>
      </a:accent5>
      <a:accent6>
        <a:srgbClr val="8E44AD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168ED9-D2CC-4702-9453-9504614F3DB7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3616575-67d9-41f1-9d77-ab49144e784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310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Montserrat</vt:lpstr>
      <vt:lpstr>Open Sans</vt:lpstr>
      <vt:lpstr>Office Theme [1775673995320]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Goncin</dc:creator>
  <cp:lastModifiedBy>Tom Goncin</cp:lastModifiedBy>
  <cp:revision>3</cp:revision>
  <dcterms:created xsi:type="dcterms:W3CDTF">2026-04-08T18:43:15Z</dcterms:created>
  <dcterms:modified xsi:type="dcterms:W3CDTF">2026-04-09T02:52:37Z</dcterms:modified>
</cp:coreProperties>
</file>